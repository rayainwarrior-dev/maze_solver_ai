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1" r:id="rId5"/>
    <p:sldId id="263" r:id="rId6"/>
    <p:sldId id="265" r:id="rId7"/>
  </p:sldIdLst>
  <p:sldSz cx="12192000" cy="6858000"/>
  <p:notesSz cx="6858000" cy="9144000"/>
  <p:embeddedFontLst>
    <p:embeddedFont>
      <p:font typeface="Fira Code" panose="020B0809050000020004" pitchFamily="49" charset="0"/>
      <p:regular r:id="rId8"/>
      <p:bold r:id="rId9"/>
    </p:embeddedFont>
    <p:embeddedFont>
      <p:font typeface="Inter"/>
      <p:bold r:id="rId10"/>
    </p:embeddedFont>
    <p:embeddedFont>
      <p:font typeface="Space Grotesk"/>
      <p:bold r:id="rId1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7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5029200"/>
            <a:ext cx="10668000" cy="1219200"/>
          </a:xfrm>
          <a:prstGeom prst="roundRect">
            <a:avLst>
              <a:gd name="adj" fmla="val 9375"/>
            </a:avLst>
          </a:prstGeom>
          <a:solidFill>
            <a:srgbClr val="180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62000" y="5029200"/>
            <a:ext cx="57150" cy="12192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119812" y="5410200"/>
            <a:ext cx="9525" cy="457200"/>
          </a:xfrm>
          <a:prstGeom prst="rect">
            <a:avLst/>
          </a:prstGeom>
          <a:solidFill>
            <a:srgbClr val="2E1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62000" y="609600"/>
            <a:ext cx="875407" cy="238125"/>
          </a:xfrm>
          <a:prstGeom prst="roundRect">
            <a:avLst>
              <a:gd name="adj" fmla="val 16000"/>
            </a:avLst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2000" y="1076325"/>
            <a:ext cx="11251406" cy="5695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1" i="0" u="none">
                <a:solidFill>
                  <a:srgbClr val="FAF5FF"/>
                </a:solidFill>
                <a:latin typeface="Space Grotesk"/>
              </a:rPr>
              <a:t>A* Search Algorithm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798290"/>
            <a:ext cx="8929687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C084FC"/>
                </a:solidFill>
                <a:latin typeface="Inter"/>
              </a:rPr>
              <a:t>Heuristic Pathfinding and Optimal Search in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647700"/>
            <a:ext cx="742057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Inter"/>
              </a:rPr>
              <a:t>SUBJECT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1707" y="633412"/>
            <a:ext cx="1821656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084FC"/>
                </a:solidFill>
                <a:latin typeface="Inter"/>
              </a:rPr>
              <a:t>Artificial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2050" y="5295900"/>
            <a:ext cx="5816203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A78BFA"/>
                </a:solidFill>
                <a:latin typeface="Inter"/>
              </a:rPr>
              <a:t>PRESENTED BY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2050" y="5505450"/>
            <a:ext cx="6107013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AF5FF"/>
                </a:solidFill>
                <a:latin typeface="Space Grotesk"/>
              </a:rPr>
              <a:t>MA. Rayain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2050" y="5791200"/>
            <a:ext cx="581620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C084FC"/>
                </a:solidFill>
                <a:latin typeface="Fira Code"/>
              </a:rPr>
              <a:t>Roll No: 24R11A6673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4137" y="5300662"/>
            <a:ext cx="575786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A78BFA"/>
                </a:solidFill>
                <a:latin typeface="Inter"/>
              </a:rPr>
              <a:t>GUIDED BY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4137" y="5510212"/>
            <a:ext cx="5757862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AF5FF"/>
                </a:solidFill>
                <a:latin typeface="Space Grotesk"/>
              </a:rPr>
              <a:t>Prof. Shaik Akbar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4137" y="5795962"/>
            <a:ext cx="575786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A78BFA"/>
                </a:solidFill>
                <a:latin typeface="Inter"/>
              </a:rPr>
              <a:t>Department of Computer Science &amp;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028700"/>
            <a:ext cx="3479750" cy="1778793"/>
          </a:xfrm>
          <a:prstGeom prst="roundRect">
            <a:avLst>
              <a:gd name="adj" fmla="val 3284"/>
            </a:avLst>
          </a:prstGeom>
          <a:solidFill>
            <a:srgbClr val="FAF5FF"/>
          </a:solidFill>
          <a:ln w="9525">
            <a:solidFill>
              <a:srgbClr val="F3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56050" y="1066800"/>
            <a:ext cx="3479750" cy="1778793"/>
          </a:xfrm>
          <a:prstGeom prst="roundRect">
            <a:avLst>
              <a:gd name="adj" fmla="val 3284"/>
            </a:avLst>
          </a:prstGeom>
          <a:solidFill>
            <a:srgbClr val="FAF5FF"/>
          </a:solidFill>
          <a:ln w="9525">
            <a:solidFill>
              <a:srgbClr val="F3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102500" y="1066800"/>
            <a:ext cx="3479750" cy="1778793"/>
          </a:xfrm>
          <a:prstGeom prst="roundRect">
            <a:avLst>
              <a:gd name="adj" fmla="val 3284"/>
            </a:avLst>
          </a:prstGeom>
          <a:solidFill>
            <a:srgbClr val="FAF5FF"/>
          </a:solidFill>
          <a:ln w="9525">
            <a:solidFill>
              <a:srgbClr val="F3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1207293"/>
            <a:ext cx="28511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0375" y="1245393"/>
            <a:ext cx="28511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6825" y="1312068"/>
            <a:ext cx="2851100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314325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rgbClr val="1E1B4B"/>
                </a:solidFill>
                <a:latin typeface="Space Grotesk"/>
              </a:rPr>
              <a:t>What is the A* Search Algorithm?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1664493"/>
            <a:ext cx="3742069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1E1B4B"/>
                </a:solidFill>
                <a:latin typeface="Space Grotesk"/>
              </a:rPr>
              <a:t>Informed Heuristic 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2007393"/>
            <a:ext cx="29463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581C87"/>
                </a:solidFill>
                <a:latin typeface="Inter"/>
              </a:rPr>
              <a:t>Combines actual path costs with estimated distances to intelligently guide exploration toward target goals.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0375" y="1702593"/>
            <a:ext cx="3742069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1B4B"/>
                </a:solidFill>
                <a:latin typeface="Space Grotesk"/>
              </a:rPr>
              <a:t>Guaranteed Optimality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0375" y="2045493"/>
            <a:ext cx="29463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581C87"/>
                </a:solidFill>
                <a:latin typeface="Inter"/>
              </a:rPr>
              <a:t>Guarantees finding the absolute shortest path when paired with an admissible and consistent heuristic function.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6825" y="1769268"/>
            <a:ext cx="3742069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1B4B"/>
                </a:solidFill>
                <a:latin typeface="Space Grotesk"/>
              </a:rPr>
              <a:t>Best of Both Worlds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6825" y="2112168"/>
            <a:ext cx="29463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581C87"/>
                </a:solidFill>
                <a:latin typeface="Inter"/>
              </a:rPr>
              <a:t>Merges Dijkstra's accuracy with Greedy Best-First Search efficiency for superior search performance.</a:t>
            </a:r>
          </a:p>
        </p:txBody>
      </p:sp>
      <p:sp>
        <p:nvSpPr>
          <p:cNvPr id="16" name="Rounded Rectangle 1"/>
          <p:cNvSpPr/>
          <p:nvPr/>
        </p:nvSpPr>
        <p:spPr>
          <a:xfrm>
            <a:off x="609600" y="3543300"/>
            <a:ext cx="10972800" cy="1143000"/>
          </a:xfrm>
          <a:prstGeom prst="roundRect">
            <a:avLst>
              <a:gd name="adj" fmla="val 10000"/>
            </a:avLst>
          </a:prstGeom>
          <a:solidFill>
            <a:srgbClr val="0B0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9600" y="3019425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rgbClr val="1E1B4B"/>
                </a:solidFill>
                <a:latin typeface="Space Grotesk"/>
              </a:rPr>
              <a:t>The Evaluation Function Formula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-190500" y="3848100"/>
            <a:ext cx="12573000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150" b="1" i="0" u="none">
                <a:solidFill>
                  <a:srgbClr val="C084FC"/>
                </a:solidFill>
                <a:latin typeface="Fira Code"/>
              </a:rPr>
              <a:t>f(n) = g(n) + h(n)</a:t>
            </a:r>
          </a:p>
        </p:txBody>
      </p:sp>
      <p:sp>
        <p:nvSpPr>
          <p:cNvPr id="19" name="Rounded Rectangle 2"/>
          <p:cNvSpPr/>
          <p:nvPr/>
        </p:nvSpPr>
        <p:spPr>
          <a:xfrm>
            <a:off x="609600" y="4972050"/>
            <a:ext cx="3505200" cy="1133475"/>
          </a:xfrm>
          <a:prstGeom prst="roundRect">
            <a:avLst>
              <a:gd name="adj" fmla="val 10084"/>
            </a:avLst>
          </a:prstGeom>
          <a:solidFill>
            <a:srgbClr val="F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3"/>
          <p:cNvSpPr/>
          <p:nvPr/>
        </p:nvSpPr>
        <p:spPr>
          <a:xfrm>
            <a:off x="4343400" y="4972050"/>
            <a:ext cx="3505200" cy="1133475"/>
          </a:xfrm>
          <a:prstGeom prst="roundRect">
            <a:avLst>
              <a:gd name="adj" fmla="val 10084"/>
            </a:avLst>
          </a:prstGeom>
          <a:solidFill>
            <a:srgbClr val="F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4"/>
          <p:cNvSpPr/>
          <p:nvPr/>
        </p:nvSpPr>
        <p:spPr>
          <a:xfrm>
            <a:off x="8077200" y="4972050"/>
            <a:ext cx="3505200" cy="1133475"/>
          </a:xfrm>
          <a:prstGeom prst="roundRect">
            <a:avLst>
              <a:gd name="adj" fmla="val 10084"/>
            </a:avLst>
          </a:prstGeom>
          <a:solidFill>
            <a:srgbClr val="F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09600" y="4972050"/>
            <a:ext cx="3505200" cy="38100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43400" y="4972050"/>
            <a:ext cx="3505200" cy="381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077200" y="4972050"/>
            <a:ext cx="3505200" cy="38100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8200" y="5238750"/>
            <a:ext cx="40005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1B4B"/>
                </a:solidFill>
                <a:latin typeface="Space Grotesk"/>
              </a:rPr>
              <a:t>f(n) - Total Estimated Cost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5514975"/>
            <a:ext cx="31432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581C87"/>
                </a:solidFill>
                <a:latin typeface="Inter"/>
              </a:rPr>
              <a:t>Total projected cost of the complete path passing through node 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5238750"/>
            <a:ext cx="40005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1B4B"/>
                </a:solidFill>
                <a:latin typeface="Space Grotesk"/>
              </a:rPr>
              <a:t>g(n) - Path Cost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5514975"/>
            <a:ext cx="31432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581C87"/>
                </a:solidFill>
                <a:latin typeface="Inter"/>
              </a:rPr>
              <a:t>Exact accumulated distance traveled from start node to node 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5800" y="5238750"/>
            <a:ext cx="38862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1B4B"/>
                </a:solidFill>
                <a:latin typeface="Space Grotesk"/>
              </a:rPr>
              <a:t>h(n) - Heuristic Estimate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5800" y="5514975"/>
            <a:ext cx="31432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581C87"/>
                </a:solidFill>
                <a:latin typeface="Inter"/>
              </a:rPr>
              <a:t>Estimated distance from node n to the final destination goal.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033462"/>
            <a:ext cx="5334000" cy="1905000"/>
          </a:xfrm>
          <a:prstGeom prst="roundRect">
            <a:avLst>
              <a:gd name="adj" fmla="val 6000"/>
            </a:avLst>
          </a:prstGeom>
          <a:solidFill>
            <a:srgbClr val="F3E8FF"/>
          </a:solidFill>
          <a:ln w="9525">
            <a:solidFill>
              <a:srgbClr val="D8B4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1033462"/>
            <a:ext cx="5334000" cy="1905000"/>
          </a:xfrm>
          <a:prstGeom prst="roundRect">
            <a:avLst>
              <a:gd name="adj" fmla="val 6000"/>
            </a:avLst>
          </a:prstGeom>
          <a:solidFill>
            <a:srgbClr val="FAF5FF"/>
          </a:solidFill>
          <a:ln w="9525">
            <a:solidFill>
              <a:srgbClr val="E9D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1366837"/>
            <a:ext cx="228600" cy="228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1366837"/>
            <a:ext cx="200025" cy="228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09575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rgbClr val="1E1B4B"/>
                </a:solidFill>
                <a:latin typeface="Space Grotesk"/>
              </a:rPr>
              <a:t>Core Data Structures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6825" y="1347787"/>
            <a:ext cx="3462932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6B21A8"/>
                </a:solidFill>
                <a:latin typeface="Space Grotesk"/>
              </a:rPr>
              <a:t>Open Set (Priority Queue)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1766887"/>
            <a:ext cx="5881687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125" b="1" i="0" u="none">
                <a:solidFill>
                  <a:srgbClr val="3B0764"/>
                </a:solidFill>
                <a:latin typeface="Inter"/>
              </a:rPr>
              <a:t>Stores:</a:t>
            </a:r>
            <a:r>
              <a:rPr sz="1125" b="0" i="0" u="none">
                <a:solidFill>
                  <a:srgbClr val="3B0764"/>
                </a:solidFill>
                <a:latin typeface="Inter"/>
              </a:rPr>
              <a:t> Discovered nodes pending evaluation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2052637"/>
            <a:ext cx="5881687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125" b="1" i="0" u="none">
                <a:solidFill>
                  <a:srgbClr val="3B0764"/>
                </a:solidFill>
                <a:latin typeface="Inter"/>
              </a:rPr>
              <a:t>Priority:</a:t>
            </a:r>
            <a:r>
              <a:rPr sz="1125" b="0" i="0" u="none">
                <a:solidFill>
                  <a:srgbClr val="3B0764"/>
                </a:solidFill>
                <a:latin typeface="Inter"/>
              </a:rPr>
              <a:t> Ordered by lowest f(n)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2338387"/>
            <a:ext cx="5881687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125" b="1" i="0" u="none">
                <a:solidFill>
                  <a:srgbClr val="3B0764"/>
                </a:solidFill>
                <a:latin typeface="Inter"/>
              </a:rPr>
              <a:t>Operation:</a:t>
            </a:r>
            <a:r>
              <a:rPr sz="1125" b="0" i="0" u="none">
                <a:solidFill>
                  <a:srgbClr val="3B0764"/>
                </a:solidFill>
                <a:latin typeface="Inter"/>
              </a:rPr>
              <a:t> Pops top node with minimal total cost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77050" y="1347787"/>
            <a:ext cx="3237904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1B4B"/>
                </a:solidFill>
                <a:latin typeface="Space Grotesk"/>
              </a:rPr>
              <a:t>Closed Set (Visited List)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2725" y="1766887"/>
            <a:ext cx="562927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125" b="1" i="0" u="none">
                <a:solidFill>
                  <a:srgbClr val="3B0764"/>
                </a:solidFill>
                <a:latin typeface="Inter"/>
              </a:rPr>
              <a:t>Stores:</a:t>
            </a:r>
            <a:r>
              <a:rPr sz="1125" b="0" i="0" u="none">
                <a:solidFill>
                  <a:srgbClr val="3B0764"/>
                </a:solidFill>
                <a:latin typeface="Inter"/>
              </a:rPr>
              <a:t> Fully evaluated and processed nodes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2725" y="2052637"/>
            <a:ext cx="562927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125" b="1" i="0" u="none">
                <a:solidFill>
                  <a:srgbClr val="3B0764"/>
                </a:solidFill>
                <a:latin typeface="Inter"/>
              </a:rPr>
              <a:t>Purpose:</a:t>
            </a:r>
            <a:r>
              <a:rPr sz="1125" b="0" i="0" u="none">
                <a:solidFill>
                  <a:srgbClr val="3B0764"/>
                </a:solidFill>
                <a:latin typeface="Inter"/>
              </a:rPr>
              <a:t> Prevents redundant cycles &amp; loops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2725" y="2338387"/>
            <a:ext cx="562927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125" b="1" i="0" u="none">
                <a:solidFill>
                  <a:srgbClr val="3B0764"/>
                </a:solidFill>
                <a:latin typeface="Inter"/>
              </a:rPr>
              <a:t>Lookup:</a:t>
            </a:r>
            <a:r>
              <a:rPr sz="1125" b="0" i="0" u="none">
                <a:solidFill>
                  <a:srgbClr val="3B0764"/>
                </a:solidFill>
                <a:latin typeface="Inter"/>
              </a:rPr>
              <a:t> Rapid hash lookup for state tracking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33718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rgbClr val="1E1B4B"/>
                </a:solidFill>
                <a:latin typeface="Space Grotesk"/>
              </a:rPr>
              <a:t>Common Heuristic Functions</a:t>
            </a:r>
          </a:p>
        </p:txBody>
      </p:sp>
      <p:sp>
        <p:nvSpPr>
          <p:cNvPr id="17" name="Rounded Rectangle 1"/>
          <p:cNvSpPr/>
          <p:nvPr/>
        </p:nvSpPr>
        <p:spPr>
          <a:xfrm>
            <a:off x="609600" y="4419600"/>
            <a:ext cx="3505200" cy="1495425"/>
          </a:xfrm>
          <a:prstGeom prst="roundRect">
            <a:avLst>
              <a:gd name="adj" fmla="val 7643"/>
            </a:avLst>
          </a:prstGeom>
          <a:solidFill>
            <a:srgbClr val="FAF5FF"/>
          </a:solidFill>
          <a:ln w="9525">
            <a:solidFill>
              <a:srgbClr val="F3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2"/>
          <p:cNvSpPr/>
          <p:nvPr/>
        </p:nvSpPr>
        <p:spPr>
          <a:xfrm>
            <a:off x="4343400" y="4419600"/>
            <a:ext cx="3505200" cy="1495425"/>
          </a:xfrm>
          <a:prstGeom prst="roundRect">
            <a:avLst>
              <a:gd name="adj" fmla="val 7643"/>
            </a:avLst>
          </a:prstGeom>
          <a:solidFill>
            <a:srgbClr val="FAF5FF"/>
          </a:solidFill>
          <a:ln w="9525">
            <a:solidFill>
              <a:srgbClr val="F3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3"/>
          <p:cNvSpPr/>
          <p:nvPr/>
        </p:nvSpPr>
        <p:spPr>
          <a:xfrm>
            <a:off x="8077200" y="4419600"/>
            <a:ext cx="3505200" cy="1495425"/>
          </a:xfrm>
          <a:prstGeom prst="roundRect">
            <a:avLst>
              <a:gd name="adj" fmla="val 7643"/>
            </a:avLst>
          </a:prstGeom>
          <a:solidFill>
            <a:srgbClr val="FAF5FF"/>
          </a:solidFill>
          <a:ln w="9525">
            <a:solidFill>
              <a:srgbClr val="F3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5825" y="4695825"/>
            <a:ext cx="3875484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1B4B"/>
                </a:solidFill>
                <a:latin typeface="Space Grotesk"/>
              </a:rPr>
              <a:t>Manhattan Distance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5825" y="5019675"/>
            <a:ext cx="369093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7E22CE"/>
                </a:solidFill>
                <a:latin typeface="Fira Code"/>
              </a:rPr>
              <a:t>|dx| + |dy|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5825" y="5314950"/>
            <a:ext cx="30480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81C87"/>
                </a:solidFill>
                <a:latin typeface="Inter"/>
              </a:rPr>
              <a:t>Ideal for 4-directional grid movements like city grid maps.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9625" y="4695825"/>
            <a:ext cx="3875484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1B4B"/>
                </a:solidFill>
                <a:latin typeface="Space Grotesk"/>
              </a:rPr>
              <a:t>Euclidean Distance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9625" y="5019675"/>
            <a:ext cx="369093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7E22CE"/>
                </a:solidFill>
                <a:latin typeface="Fira Code"/>
              </a:rPr>
              <a:t>√(dx² + dy²)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9625" y="5314950"/>
            <a:ext cx="30480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81C87"/>
                </a:solidFill>
                <a:latin typeface="Inter"/>
              </a:rPr>
              <a:t>Straight-line distance used for unconstrained continuous motion.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53425" y="4695825"/>
            <a:ext cx="38385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1B4B"/>
                </a:solidFill>
                <a:latin typeface="Space Grotesk"/>
              </a:rPr>
              <a:t>Diagonal Distance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53425" y="5019675"/>
            <a:ext cx="369093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7E22CE"/>
                </a:solidFill>
                <a:latin typeface="Fira Code"/>
              </a:rPr>
              <a:t>max(|dx|, |dy|)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53425" y="5314950"/>
            <a:ext cx="30480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81C87"/>
                </a:solidFill>
                <a:latin typeface="Inter"/>
              </a:rPr>
              <a:t>Calculates costs when 8-directional movement is enabled.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847850"/>
            <a:ext cx="2628900" cy="1152525"/>
          </a:xfrm>
          <a:prstGeom prst="roundRect">
            <a:avLst>
              <a:gd name="adj" fmla="val 6611"/>
            </a:avLst>
          </a:prstGeom>
          <a:solidFill>
            <a:srgbClr val="F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1847850"/>
            <a:ext cx="38100" cy="1152525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390900" y="1924050"/>
            <a:ext cx="2628900" cy="1000125"/>
          </a:xfrm>
          <a:prstGeom prst="roundRect">
            <a:avLst>
              <a:gd name="adj" fmla="val 7619"/>
            </a:avLst>
          </a:prstGeom>
          <a:solidFill>
            <a:srgbClr val="F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390900" y="1924050"/>
            <a:ext cx="38100" cy="1000125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72200" y="1847850"/>
            <a:ext cx="2628900" cy="1152525"/>
          </a:xfrm>
          <a:prstGeom prst="roundRect">
            <a:avLst>
              <a:gd name="adj" fmla="val 6611"/>
            </a:avLst>
          </a:prstGeom>
          <a:solidFill>
            <a:srgbClr val="F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172200" y="1847850"/>
            <a:ext cx="38100" cy="1152525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953500" y="1847850"/>
            <a:ext cx="2628900" cy="1152525"/>
          </a:xfrm>
          <a:prstGeom prst="roundRect">
            <a:avLst>
              <a:gd name="adj" fmla="val 6611"/>
            </a:avLst>
          </a:prstGeom>
          <a:solidFill>
            <a:srgbClr val="F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953500" y="1847850"/>
            <a:ext cx="38100" cy="1152525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9600" y="80010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rgbClr val="1E1B4B"/>
                </a:solidFill>
                <a:latin typeface="Space Grotesk"/>
              </a:rPr>
              <a:t>Algorithm Execution 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2038350"/>
            <a:ext cx="23431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7E22CE"/>
                </a:solidFill>
                <a:latin typeface="Inter"/>
              </a:rPr>
              <a:t>STEP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1400" y="2114550"/>
            <a:ext cx="234315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7E22CE"/>
                </a:solidFill>
                <a:latin typeface="Inter"/>
              </a:rP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2700" y="2038350"/>
            <a:ext cx="23431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7E22CE"/>
                </a:solidFill>
                <a:latin typeface="Inter"/>
              </a:rPr>
              <a:t>STEP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038350"/>
            <a:ext cx="23431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7E22CE"/>
                </a:solidFill>
                <a:latin typeface="Inter"/>
              </a:rPr>
              <a:t>STEP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2266950"/>
            <a:ext cx="29003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1B4B"/>
                </a:solidFill>
                <a:latin typeface="Space Grotesk"/>
              </a:rPr>
              <a:t>Initialize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2505075"/>
            <a:ext cx="23050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581C87"/>
                </a:solidFill>
                <a:latin typeface="Inter"/>
              </a:rPr>
              <a:t>Add Start node to Open set with g=0.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9500" y="2343150"/>
            <a:ext cx="29003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1B4B"/>
                </a:solidFill>
                <a:latin typeface="Space Grotesk"/>
              </a:rPr>
              <a:t>Pop Minimal f(n)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9500" y="2581275"/>
            <a:ext cx="27622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581C87"/>
                </a:solidFill>
                <a:latin typeface="Inter"/>
              </a:rPr>
              <a:t>Select node with lowest total score.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266950"/>
            <a:ext cx="29003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1B4B"/>
                </a:solidFill>
                <a:latin typeface="Space Grotesk"/>
              </a:rPr>
              <a:t>Evaluate Goal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505075"/>
            <a:ext cx="23050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581C87"/>
                </a:solidFill>
                <a:latin typeface="Inter"/>
              </a:rPr>
              <a:t>Stop &amp; reconstruct path if target reached.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2100" y="2247900"/>
            <a:ext cx="29003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1E1B4B"/>
                </a:solidFill>
                <a:latin typeface="Space Grotesk"/>
              </a:rPr>
              <a:t>Expand Neighbors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2100" y="2505075"/>
            <a:ext cx="23050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581C87"/>
                </a:solidFill>
                <a:latin typeface="Inter"/>
              </a:rPr>
              <a:t>Update g, h, f values &amp; add to Open set.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6750253"/>
              </p:ext>
            </p:extLst>
          </p:nvPr>
        </p:nvGraphicFramePr>
        <p:xfrm>
          <a:off x="609600" y="4029075"/>
          <a:ext cx="10972798" cy="1857375"/>
        </p:xfrm>
        <a:graphic>
          <a:graphicData uri="http://schemas.openxmlformats.org/drawingml/2006/table">
            <a:tbl>
              <a:tblPr/>
              <a:tblGrid>
                <a:gridCol w="25854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215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3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425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4343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1E1B4B"/>
                          </a:solidFill>
                          <a:latin typeface="Inter"/>
                        </a:rPr>
                        <a:t>Algorithm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1E1B4B"/>
                          </a:solidFill>
                          <a:latin typeface="Inter"/>
                        </a:rPr>
                        <a:t>Evaluation Function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1E1B4B"/>
                          </a:solidFill>
                          <a:latin typeface="Inter"/>
                        </a:rPr>
                        <a:t>Optimality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1E1B4B"/>
                          </a:solidFill>
                          <a:latin typeface="Inter"/>
                        </a:rPr>
                        <a:t>Explored Nodes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4343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7E22CE"/>
                          </a:solidFill>
                          <a:latin typeface="Inter"/>
                        </a:rPr>
                        <a:t>A* Search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000000"/>
                          </a:solidFill>
                          <a:latin typeface="Fira Code"/>
                        </a:rPr>
                        <a:t>f(n) = g(n) + h(n)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16A34A"/>
                          </a:solidFill>
                          <a:latin typeface="Inter"/>
                        </a:rPr>
                        <a:t>Optimal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000000"/>
                          </a:solidFill>
                          <a:latin typeface="Inter"/>
                        </a:rPr>
                        <a:t>Minimal Focused Search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4343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00000"/>
                          </a:solidFill>
                          <a:latin typeface="Inter"/>
                        </a:rPr>
                        <a:t>Dijkstra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000000"/>
                          </a:solidFill>
                          <a:latin typeface="Fira Code"/>
                        </a:rPr>
                        <a:t>f(n) = g(n)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16A34A"/>
                          </a:solidFill>
                          <a:latin typeface="Inter"/>
                        </a:rPr>
                        <a:t>Optimal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000000"/>
                          </a:solidFill>
                          <a:latin typeface="Inter"/>
                        </a:rPr>
                        <a:t>High Exhaustive Spread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4346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00000"/>
                          </a:solidFill>
                          <a:latin typeface="Inter"/>
                        </a:rPr>
                        <a:t>Greedy Best-First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000000"/>
                          </a:solidFill>
                          <a:latin typeface="Fira Code"/>
                        </a:rPr>
                        <a:t>f(n) = h(n)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DC2626"/>
                          </a:solidFill>
                          <a:latin typeface="Inter"/>
                        </a:rPr>
                        <a:t>Not Optimal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000000"/>
                          </a:solidFill>
                          <a:latin typeface="Inter"/>
                        </a:rPr>
                        <a:t>Fast but Risk Suboptimal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609600" y="3324225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rgbClr val="1E1B4B"/>
                </a:solidFill>
                <a:latin typeface="Space Grotesk"/>
              </a:rPr>
              <a:t>A* vs Other Search Algorithms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471612"/>
            <a:ext cx="3505200" cy="1581150"/>
          </a:xfrm>
          <a:prstGeom prst="roundRect">
            <a:avLst>
              <a:gd name="adj" fmla="val 7228"/>
            </a:avLst>
          </a:prstGeom>
          <a:solidFill>
            <a:srgbClr val="FAF5FF"/>
          </a:solidFill>
          <a:ln w="9525">
            <a:solidFill>
              <a:srgbClr val="F3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1471612"/>
            <a:ext cx="3505200" cy="1581150"/>
          </a:xfrm>
          <a:prstGeom prst="roundRect">
            <a:avLst>
              <a:gd name="adj" fmla="val 7228"/>
            </a:avLst>
          </a:prstGeom>
          <a:solidFill>
            <a:srgbClr val="FAF5FF"/>
          </a:solidFill>
          <a:ln w="9525">
            <a:solidFill>
              <a:srgbClr val="F3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1471612"/>
            <a:ext cx="3505200" cy="1581150"/>
          </a:xfrm>
          <a:prstGeom prst="roundRect">
            <a:avLst>
              <a:gd name="adj" fmla="val 7228"/>
            </a:avLst>
          </a:prstGeom>
          <a:solidFill>
            <a:srgbClr val="FAF5FF"/>
          </a:solidFill>
          <a:ln w="9525">
            <a:solidFill>
              <a:srgbClr val="F3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1747837"/>
            <a:ext cx="30480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1747837"/>
            <a:ext cx="333375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1747837"/>
            <a:ext cx="333375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638175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rgbClr val="1E1B4B"/>
                </a:solidFill>
                <a:latin typeface="Space Grotesk"/>
              </a:rPr>
              <a:t>Real-World AI Applications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2128837"/>
            <a:ext cx="3875484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1B4B"/>
                </a:solidFill>
                <a:latin typeface="Space Grotesk"/>
              </a:rPr>
              <a:t>GPS &amp; Navigation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2452687"/>
            <a:ext cx="30480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81C87"/>
                </a:solidFill>
                <a:latin typeface="Inter"/>
              </a:rPr>
              <a:t>Powers Google Maps and turn-by-turn routing through traffic networks.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9625" y="2128837"/>
            <a:ext cx="3875484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1B4B"/>
                </a:solidFill>
                <a:latin typeface="Space Grotesk"/>
              </a:rPr>
              <a:t>Video Game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9625" y="2452687"/>
            <a:ext cx="30480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81C87"/>
                </a:solidFill>
                <a:latin typeface="Inter"/>
              </a:rPr>
              <a:t>Guides NPC pathfinding around obstacles in dynamic strategy games.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3425" y="2128837"/>
            <a:ext cx="38385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1B4B"/>
                </a:solidFill>
                <a:latin typeface="Space Grotesk"/>
              </a:rPr>
              <a:t>Robotics Movement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3425" y="2452687"/>
            <a:ext cx="30480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81C87"/>
                </a:solidFill>
                <a:latin typeface="Inter"/>
              </a:rPr>
              <a:t>Controls autonomous warehouse robots and rover surface navigation.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339090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E1B4B"/>
                </a:solidFill>
                <a:latin typeface="Space Grotesk"/>
              </a:rPr>
              <a:t>Strengths &amp; Limitations</a:t>
            </a:r>
          </a:p>
        </p:txBody>
      </p:sp>
      <p:sp>
        <p:nvSpPr>
          <p:cNvPr id="17" name="Rounded Rectangle 1"/>
          <p:cNvSpPr/>
          <p:nvPr/>
        </p:nvSpPr>
        <p:spPr>
          <a:xfrm>
            <a:off x="609600" y="3919537"/>
            <a:ext cx="5334000" cy="1905000"/>
          </a:xfrm>
          <a:prstGeom prst="roundRect">
            <a:avLst>
              <a:gd name="adj" fmla="val 6000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2"/>
          <p:cNvSpPr/>
          <p:nvPr/>
        </p:nvSpPr>
        <p:spPr>
          <a:xfrm>
            <a:off x="6248400" y="3919537"/>
            <a:ext cx="5334000" cy="190500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3925" y="4233862"/>
            <a:ext cx="617577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5803D"/>
                </a:solidFill>
                <a:latin typeface="Space Grotesk"/>
              </a:rPr>
              <a:t>Key 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2725" y="4233862"/>
            <a:ext cx="562927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B91C1C"/>
                </a:solidFill>
                <a:latin typeface="Space Grotesk"/>
              </a:rPr>
              <a:t>Key Limitations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925" y="4652962"/>
            <a:ext cx="5881687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125" b="1" i="0" u="none">
                <a:solidFill>
                  <a:srgbClr val="166534"/>
                </a:solidFill>
                <a:latin typeface="Inter"/>
              </a:rPr>
              <a:t>Guaranteed Completeness:</a:t>
            </a:r>
            <a:r>
              <a:rPr sz="1125" b="0" i="0" u="none">
                <a:solidFill>
                  <a:srgbClr val="166534"/>
                </a:solidFill>
                <a:latin typeface="Inter"/>
              </a:rPr>
              <a:t> Always finds solution if present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925" y="4938712"/>
            <a:ext cx="5881687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125" b="1" i="0" u="none">
                <a:solidFill>
                  <a:srgbClr val="166534"/>
                </a:solidFill>
                <a:latin typeface="Inter"/>
              </a:rPr>
              <a:t>Optimal Pathing:</a:t>
            </a:r>
            <a:r>
              <a:rPr sz="1125" b="0" i="0" u="none">
                <a:solidFill>
                  <a:srgbClr val="166534"/>
                </a:solidFill>
                <a:latin typeface="Inter"/>
              </a:rPr>
              <a:t> Finds shortest route with valid h(n)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925" y="5224462"/>
            <a:ext cx="5881687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125" b="1" i="0" u="none">
                <a:solidFill>
                  <a:srgbClr val="166534"/>
                </a:solidFill>
                <a:latin typeface="Inter"/>
              </a:rPr>
              <a:t>High Efficiency:</a:t>
            </a:r>
            <a:r>
              <a:rPr sz="1125" b="0" i="0" u="none">
                <a:solidFill>
                  <a:srgbClr val="166534"/>
                </a:solidFill>
                <a:latin typeface="Inter"/>
              </a:rPr>
              <a:t> Minimizes unnecessary node exploration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2725" y="4652962"/>
            <a:ext cx="562927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125" b="1" i="0" u="none">
                <a:solidFill>
                  <a:srgbClr val="991B1B"/>
                </a:solidFill>
                <a:latin typeface="Inter"/>
              </a:rPr>
              <a:t>High Memory Usage:</a:t>
            </a:r>
            <a:r>
              <a:rPr sz="1125" b="0" i="0" u="none">
                <a:solidFill>
                  <a:srgbClr val="991B1B"/>
                </a:solidFill>
                <a:latin typeface="Inter"/>
              </a:rPr>
              <a:t> Stores all expanded nodes in memory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2725" y="4938712"/>
            <a:ext cx="562927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125" b="1" i="0" u="none">
                <a:solidFill>
                  <a:srgbClr val="991B1B"/>
                </a:solidFill>
                <a:latin typeface="Inter"/>
              </a:rPr>
              <a:t>Heuristic Dependence:</a:t>
            </a:r>
            <a:r>
              <a:rPr sz="1125" b="0" i="0" u="none">
                <a:solidFill>
                  <a:srgbClr val="991B1B"/>
                </a:solidFill>
                <a:latin typeface="Inter"/>
              </a:rPr>
              <a:t> Speed relies on quality of h(n)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62725" y="5224462"/>
            <a:ext cx="562927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125" b="1" i="0" u="none">
                <a:solidFill>
                  <a:srgbClr val="991B1B"/>
                </a:solidFill>
                <a:latin typeface="Inter"/>
              </a:rPr>
              <a:t>Computational Load:</a:t>
            </a:r>
            <a:r>
              <a:rPr sz="1125" b="0" i="0" u="none">
                <a:solidFill>
                  <a:srgbClr val="991B1B"/>
                </a:solidFill>
                <a:latin typeface="Inter"/>
              </a:rPr>
              <a:t> Can slow down on massive graph scales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7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719637" y="4014787"/>
            <a:ext cx="2752725" cy="600075"/>
          </a:xfrm>
          <a:prstGeom prst="roundRect">
            <a:avLst>
              <a:gd name="adj" fmla="val 12698"/>
            </a:avLst>
          </a:prstGeom>
          <a:solidFill>
            <a:srgbClr val="180E29"/>
          </a:solidFill>
          <a:ln w="9525">
            <a:solidFill>
              <a:srgbClr val="2E10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563344" y="2243137"/>
            <a:ext cx="106531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C084FC"/>
                </a:solidFill>
                <a:latin typeface="Inter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08301" y="2519362"/>
            <a:ext cx="3175396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FAF5FF"/>
                </a:solidFill>
                <a:latin typeface="Space Grotesk"/>
              </a:rP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252787"/>
            <a:ext cx="762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A78BFA"/>
                </a:solidFill>
                <a:latin typeface="Inter"/>
              </a:rPr>
              <a:t>A* remains one of the foundational heuristic search algorithms in Artificial Intelligence.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63703" y="4214812"/>
            <a:ext cx="246459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C084FC"/>
                </a:solidFill>
                <a:latin typeface="Inter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539</Words>
  <Application>Microsoft Office PowerPoint</Application>
  <PresentationFormat>Widescreen</PresentationFormat>
  <Paragraphs>94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Space Grotesk</vt:lpstr>
      <vt:lpstr>Fira Code</vt:lpstr>
      <vt:lpstr>Inter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Rayain</dc:creator>
  <cp:keywords/>
  <dc:description>generated using python-pptx</dc:description>
  <cp:lastModifiedBy>Rayain</cp:lastModifiedBy>
  <cp:revision>2</cp:revision>
  <dcterms:created xsi:type="dcterms:W3CDTF">2013-01-27T09:14:16Z</dcterms:created>
  <dcterms:modified xsi:type="dcterms:W3CDTF">2026-10-15T10:45:17Z</dcterms:modified>
  <cp:category/>
</cp:coreProperties>
</file>